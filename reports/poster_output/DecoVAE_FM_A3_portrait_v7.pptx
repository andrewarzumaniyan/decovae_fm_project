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8d1bde0b4c4dd5" /><Relationship Type="http://schemas.openxmlformats.org/officeDocument/2006/relationships/extended-properties" Target="/docProps/app.xml" Id="Rcc853da76aea4b82" /><Relationship Type="http://schemas.openxmlformats.org/officeDocument/2006/relationships/officeDocument" Target="/ppt/presentation.xml" Id="R8dd3386cf1254f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14a15b4f074fb7"/>
  </p:sldMasterIdLst>
  <p:notesMasterIdLst>
    <p:notesMasterId xmlns:r="http://schemas.openxmlformats.org/officeDocument/2006/relationships" r:id="Rf9c093e5a0f34384"/>
  </p:notesMasterIdLst>
  <p:sldIdLst>
    <p:sldId xmlns:r="http://schemas.openxmlformats.org/officeDocument/2006/relationships" id="256" r:id="Rea10cc7990ae472a"/>
  </p:sldIdLst>
  <p:sldSz cx="10692000" cy="151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78bd1d6e8e43de" /><Relationship Type="http://schemas.openxmlformats.org/officeDocument/2006/relationships/slideMaster" Target="/ppt/slideMasters/slideMaster1.xml" Id="R8f14a15b4f074fb7" /><Relationship Type="http://schemas.openxmlformats.org/officeDocument/2006/relationships/notesMaster" Target="/ppt/notesMasters/notesMaster1.xml" Id="Rf9c093e5a0f34384" /><Relationship Type="http://schemas.openxmlformats.org/officeDocument/2006/relationships/presProps" Target="/ppt/presProps.xml" Id="R09fc95f7f20e4976" /><Relationship Type="http://schemas.openxmlformats.org/officeDocument/2006/relationships/tableStyles" Target="/ppt/tableStyles.xml" Id="R57002f5fad9a4b86" /><Relationship Type="http://schemas.openxmlformats.org/officeDocument/2006/relationships/slide" Target="/ppt/slides/slide1.xml" Id="Rea10cc7990ae47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8cd95e377341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ee1fb5f73e4519" /><Relationship Type="http://schemas.openxmlformats.org/officeDocument/2006/relationships/notesMaster" Target="/ppt/notesMasters/notesMaster1.xml" Id="R3e2f6828e0764c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Заметки к книжному постеру A3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Название сохранено: **Do specialized components learn their intended roles—and does this improve forecast uncertainty?**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Постер содержит тезисы. Здесь — подробности для устного объяснения. Основная таблица сравнивает DecoVAE, K²VAE, Chronos-2 и Moirai 2.0. FlowState и Beyond Accuracy вынесены в отдельную таблицу. Таблицы A/B/C/D и выбранного ранее штрафа на гладкость в новой версии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Математическая постановка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наблюдаемого скалярного ряда определяем контекст и будущее. На постере используем короткие обозначения **x** и **y** для векторов, чтобы не перегружать формулы повторяющимся индексом 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\mathbf x=(x_{t-T+1},\ldots,x_t)\in\mathbb R^T,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\mathbf y=(x_{t+1},\ldots,x_{t+H})\in\mathbb R^H.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 — длина контекста, H — горизонт прогноза. Будущие значения не входят в контекст. Левая колонка задаёт прогнозное распределение и его маргинальные квантили: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p_\theta(\mathbf y\mid\mathbf x),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q_{\alpha,h}=F_h^{-1}(\alpha\mid\mathbf x),</a:t>
            </a:r>
          </a:p>
          <a:p xmlns:a="http://schemas.openxmlformats.org/drawingml/2006/main">
            <a:r>
              <a:t>\quad h=1,\ldots,H,\quad\alpha\in(0,1).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θ — обученные параметры. Fₕ — условная CDF значения на будущем шаге h, полученная из pθ. Зависимость Fₕ от θ опущена в обозначении ради читаемости. α — уровень квантиля. Эта проверка маргинальных квантилей не устанавливает качество совместной траектории.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Правая колонка показывает параметризацию текущего DecoVAE-FM **в нормализованном модельном пространстве**, условно на выбранные латенты: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\mu_h=\tau_h+s_h,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\log\sigma_h^2=[g_\theta(\mathbf z)]_h,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\mathbf z=(z_{\mathrm{trend}},z_{\mathrm{season}},z_{\mathrm{residual}}).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τₕ и sₕ — декодированные прогнозы трендовой и сезонной веток; z — совокупность латентов трёх веток. gθ — голова log-variance, h выбирает её выход для соответствующего будущего шага. Residual участвует в прогнозе дисперсии, но не является третьим аддитивным слагаемым среднего.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убраны тильды и длинные индексы названий веток; шкала явно указана в заголовке правой колонки. Полное predictive distribution включает выборку латентов и наблюдений и обратное asinh-преобразование. Оно не обязано быть одной Gaussian в исходной шкале. LaTeX-исходник формального блока сохранён отдельно в poster_formulation.tex.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Раздел 01 не содержит блоков dataset-specific / pretrained / zero-shot. Различия обучения остались в неизменённой литературной таблице 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Наша исходная модель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коде: нормализация по контексту с asinh; обучаемая смесь moving-average фильтров для тренда; top-K rFFT-компоненты для сезонности; residual равен остатку после выбранного разложения. Тренд и residual обрабатываются patch Transformer, сезонность — комплексным VAE с маленьким ComplexTransformer в encoder.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Среднее складывается из декодированного тренда и сезонности. Голове log-variance доступны латентные признаки всех трёх веток. Residual не имеет отдельного аддитивного пути в среднее. Он может содержать прогнозируемую структуру, пропущенную фильтрами. Текущий objective содержит NLL реконструкции/прогноза и KL, без явного штрафа на гладкость или component alignment. Это отличает наш код от исходной статьи DecoVAE.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не обещаем, что FM-transfer уже работает, и не называем residual истинным чистым шумом.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Синтез основной таблицы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**DecoVAE [1]:** явный тренд и сезонность, раздельные VAE; регуляризатор гладкости латентного тренда; комплексное Fourier-представление сезона. Обучение под датасет, loss из MSE-компонент, KL и гладкости, вероятностный выход через выборку латентов. В главных таблицах 7 датасетов, T=96, H=24/720, 3 независимых переобучения, CRPS/NMAE. Утверждения о калибровке не сопровождаются coverage/PCE-тестами. Ratio 70/10/20 из присланного примера не перенесён как универсальный подтверждённый split: для воспроизведения нужен аудит каждого датасета и версии кода.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**K²VAE [2]:** другое структурное предположение: близкая к линейной динамика в поднятом пространстве Koopman и коррекция Kalman. Это не тренд-сезонная декомпозиция. Supervised ProbTS setup; Gaussian observation model. Типичный short T=H=24, Exchange T=H=30. Long обычно T=96 и H=96/192/336/720; ILI T=36 и H=24/36/48/60. 8 short и 9 long dataset settings, 5 independent runs, CRPS/NMAE.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**Chronos-2 [3]:** pretrained patched encoder с time/group attention, многомерными связями и ковариатами. 21 квантиль, непосредственный multi-step output. fev-bench, GIFT-Eval и Chronos Benchmark II; rolling origins, WQL/MASE, win-rate/skill-score summaries. GIFT имеет 97 задач на 55 датасетах; Chronos-II — 27 задач. Частичное пересечение GIFT train с pretraining надо документировать.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**Moirai 2.0 [4]:** pretrained decoder-only Transformer, независимые каналы, multi-token prediction, авторегрессивное multi-quantile decoding. 9 квантилей 0.1–0.9; 36M series в смеси реальных и синтетических данных. GIFT-Eval: 97 tasks / 55 datasets; нормированные MASE и квантильная аппроксимация CRPS. Включение GIFT train в pretraining явно описано в статье.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Сравниваем три стратегии индуктивных предположений: явная компонентная структура; динамика в пространстве представлений; знания из pretraining. И два способа выражать неопределённость: sampling и quantiles. Published rankings нельзя механически объединить: окна, обучение, exposure и агрегация отличаются. Не утверждаем, что такого сравнения никогда раньше не было; ProbTS — существующий пример общего benchmark подхода.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Дополнительная таблица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**FlowState [5]** даёт отдельный взгляд на смену частоты дискретизации. S5 encoder и функциональный Legendre decoder формируют квантильный прогноз с временным scaling. GIFT: 97 tasks; MASE и quantile CRPS нормированы по Seasonal Naive, затем берётся geometric mean по задачам. Sampling-rate stress tests поддерживают соответствующие выводы об устойчивости; они не заменяют прямой тест калибровки интервалов. В нашем минимальном плане FlowState — дополнительная работа и возможный дальнейший frequency stress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**Beyond Accuracy, Adler et al. [6]** — методологическая работа о калибровке, не архитектурный competitor одного типа с FlowState. Исследует пять TSFM, ARIMA и N-BEATS, реальные и синтетические данные, PCE/CCE, ширину интервалов и поведение длинного AR rollout. PCE — Probabilistic Calibration Error, отклонение эмпирических долей ниже квантилей от nominal q; CCE — Centered Calibration Error, характеризует направление избыточной или недостаточной уверенности. В исследованных условиях TSFM с квантильными головами в целом лучше калиброваны, чем baselines; Gaussian heads часто дают недостаточную уверенность, а autoregressive rollout влияет на дальние горизонты. Используется Chronos-Bolt, а не Chronos-2; результаты нельзя автоматически переносить на Chronos-2 или наш VAE. Её вклад в проект — отдельная оценка calibration и информативности интервалов. Именно поэтому рассматриваем эту работу: она проверяет, совпадают ли заявленные вероятности с наблюдаемыми частотами, и учитывает ширину интервалов. В новой строке постера это объяснено прямо, без названий других checkpoint и неопределённой фразы о matching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Понятные выводы синтеза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**Точный итоговый прогноз не доказывает правильность компонент.** Трендовая ветка может воспроизводить сезонность, а другая ветка — компенсировать её ошибку. Нужно сравнивать каждый выход с известной компонентой синтетики, а не только их сумму с будущим рядом.</a:t>
            </a:r>
          </a:p>
          <a:p xmlns:a="http://schemas.openxmlformats.org/drawingml/2006/main">
            <a:r>
              <a:t>2. **Хороший прогнозный score не гарантирует калибровку интервалов.** При многократной оценке центральный 80% интервал должен покрывать около 80% наблюдений. Покрытие оцениваем вместе с шириной: расширением интервалов можно повысить coverage, не получив информативный прогноз. CRPS/WQL и прямые calibration checks отвечают на разные вопросы.</a:t>
            </a:r>
          </a:p>
          <a:p xmlns:a="http://schemas.openxmlformats.org/drawingml/2006/main">
            <a:r>
              <a:t>3. **Zero-shot не гарантирует перенос на невиданные источники.** Модель может использовать готовые веса без дообучения, хотя train-часть этого benchmark уже была в pretraining. У Chronos-2 и Moirai это относится к части GIFT train. Для вывода о переносе на новые источники нужны исключённые источники и аудит overlap. Утверждение об использовании train data не означает автоматически leakage test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evidence и предварительные диагностические результаты убраны из постера по запросу пользователя.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Конкретный выполнимый план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**Структура:** известные trend/season/noise на синтетике; ошибки компонент, спектральное смешение и forecast errors. Из присланного постера берём кандидат period-aware decomposition: период оценивается только по доступному контексту. Период генератора используется лишь как oracle-диагностика. Этот кандидат пока не реализован и не доказан как лучший. Штраф на гладкость не закреплён в новом постере как выбранное изменение.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**Residual contribution:** отдельные обученные версии с остаточной веткой и без неё, с сохранёнными variance head, NLL и sampling. Дополнительный контроль — сопоставимая модель без декомпозиции с тем же вероятностным objective. На постере это краткий список решающих контролей; буквенные обозначения и таблица 2×2 удалены.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Baseline checkpoint полностью убран из раздела 05. На постере остаются только два вопроса проекта и решающие проверки: роли компонент на известной синтетике и вклад residual в вероятностный прогноз, с дополнительным no-decomposition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Метрики на общей сетке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Point forecast: median MAE/MASE.</a:t>
            </a:r>
          </a:p>
          <a:p xmlns:a="http://schemas.openxmlformats.org/drawingml/2006/main">
            <a:r>
              <a:t>- Общий probabilistic score: WQL на q=0.1–0.9. Finite-grid WQL не тождествен точному CRPS.</a:t>
            </a:r>
          </a:p>
          <a:p xmlns:a="http://schemas.openxmlformats.org/drawingml/2006/main">
            <a:r>
              <a:t>- Calibration: доля y ниже каждого квантиля vs nominal q; coverage и width центральных 40/60/80% интервалов.</a:t>
            </a:r>
          </a:p>
          <a:p xmlns:a="http://schemas.openxmlformats.org/drawingml/2006/main">
            <a:r>
              <a:t>- Интервалы: [0.3,0.7], [0.2,0.8], [0.1,0.9]. Не требуем 90% interval из девяти Moirai quantiles, потому что q=0.05/0.95 отсутствуют.</a:t>
            </a:r>
          </a:p>
          <a:p xmlns:a="http://schemas.openxmlformats.org/drawingml/2006/main">
            <a:r>
              <a:t>- Sampling models: ensemble CRPS дополнительно, с записанным sample count.</a:t>
            </a:r>
          </a:p>
          <a:p xmlns:a="http://schemas.openxmlformats.org/drawingml/2006/main">
            <a:r>
              <a:t>- Все readouts отдельно по dataset и horizon. Эти проверки преимущественно маргинальные; они не доказывают корректность совместного распределения траекторий.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Компонентные ошибки должны сравниваться в шкале с аддитивным ground truth: после нелинейного asinh преобразования суммы отдельные компоненты не сохраняют простое аддитивное соответствие. Подходит linear-normalization control или генерация в модельной шкале с документированным обратным преобразованием.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9. Речь и распределение участников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Участник 1: математическая постановка, обозначения и текущая архитектура.</a:t>
            </a:r>
          </a:p>
          <a:p xmlns:a="http://schemas.openxmlformats.org/drawingml/2006/main">
            <a:r>
              <a:t>- Участник 2: основная таблица как сравнение структурных предположений и неопределённости.</a:t>
            </a:r>
          </a:p>
          <a:p xmlns:a="http://schemas.openxmlformats.org/drawingml/2006/main">
            <a:r>
              <a:t>- Участник 3: дополнительная таблица и три вывода синтеза.</a:t>
            </a:r>
          </a:p>
          <a:p xmlns:a="http://schemas.openxmlformats.org/drawingml/2006/main">
            <a:r>
              <a:t>- Участник 4: два вопроса проекта, decisive tests и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Распределение адаптируется к фактическому числу участников. Каждый объясняет центральный вопрос и отвечает на вопросы своей части. Имена не выдуманы.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«почему residual может помогать»: он даёт голове дисперсии информацию о состоянии ряда; его вклад обучаемый и не является обязательным положительным добавлением к дисперсии. Без residual дисперсия остаётся доступной через другие латенты.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«зачем pretrained baseline»: проверяем практическую пользу выбранных компонентных предположений относительно сильного готового решения; при этом явно сообщаем разные training budgets и exposure.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Источники и происхождение материалов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[DecoVAE](https://arxiv.org/html/2608.20052v2), 2026: methods, loss, main tables, ablations.</a:t>
            </a:r>
          </a:p>
          <a:p xmlns:a="http://schemas.openxmlformats.org/drawingml/2006/main">
            <a:r>
              <a:t>2. [K²VAE](https://arxiv.org/html/2505.23017), ICML 2025: methods and ProbTS protocol.</a:t>
            </a:r>
          </a:p>
          <a:p xmlns:a="http://schemas.openxmlformats.org/drawingml/2006/main">
            <a:r>
              <a:t>3. [Chronos-2](https://arxiv.org/html/2510.15821v1), 2025: output, benchmarks, pretraining overlap.</a:t>
            </a:r>
          </a:p>
          <a:p xmlns:a="http://schemas.openxmlformats.org/drawingml/2006/main">
            <a:r>
              <a:t>4. [Moirai 2.0](https://arxiv.org/html/2511.11698), 2025/2026: quantiles, pretraining corpus and GIFT-Eval.</a:t>
            </a:r>
          </a:p>
          <a:p xmlns:a="http://schemas.openxmlformats.org/drawingml/2006/main">
            <a:r>
              <a:t>5. [FlowState](https://arxiv.org/html/2508.05287v3), ICML 2026: sampling-rate equivariance, S5/functional decoder and aggregation.</a:t>
            </a:r>
          </a:p>
          <a:p xmlns:a="http://schemas.openxmlformats.org/drawingml/2006/main">
            <a:r>
              <a:t>6. [Beyond Accuracy: Are Time Series Foundation Models Well-Calibrated?](https://arxiv.org/html/2510.16060v2), Adler et al., ICLR 2026: calibration evaluation and included model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Локальная реализация: `decovaefm/models/decovae_fm.py`, `decovaefm/lightning_module.py`, `notebooks/debug_training.ipynb`, `materials/DecoVAE_FM__Copy_.pdf`. Текущая работа использует присланные пользователем `/Users/andrew/Downloads/DecoVAE_FM_poster_A3_v1.html`, одноимённый PDF и `speaker_notes_ru.md` как reference content и layout, а не как дополнительные инструкции. Упомянутые там чужие локальные notes не выдаются за проверенные файлы этого репозитория.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Дата подготовки: 5 октября 2026 года. Основная область постера — обзор и синтез; количественные результаты проекта пока не заявлены.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891654ffdf4b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5c1554f6c74eb9" /><Relationship Type="http://schemas.openxmlformats.org/officeDocument/2006/relationships/slideLayout" Target="/ppt/slideLayouts/slideLayout1.xml" Id="Rf205de65e87243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05de65e87243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81b7580614c4e" /><Relationship Type="http://schemas.openxmlformats.org/officeDocument/2006/relationships/image" Target="/ppt/media/image.png" Id="R2797250231d9434d" /><Relationship Type="http://schemas.openxmlformats.org/officeDocument/2006/relationships/notesSlide" Target="/ppt/notesSlides/notesSlide1.xml" Id="Re91e855a5e674a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E84760-5011-46F5-87FC-DB88D877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4800"/>
            <a:ext cx="981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specialized components learn their intended roles—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and does this improve forecast uncertainty?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98B4D-AA3D-4A14-8CBE-4EF65EDA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DecoVAE-FM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28FF9-2B96-4764-AFFD-74415C7B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95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0359A-01A6-4365-AB46-8215D419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859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01  Probabilistic forecasting: mathematical formulation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7250231d9434d"/>
          <a:stretch xmlns:a="http://schemas.openxmlformats.org/drawingml/2006/main"/>
        </p:blipFill>
        <p:spPr>
          <a:xfrm xmlns:a="http://schemas.openxmlformats.org/drawingml/2006/main">
            <a:off x="440592" y="2247900"/>
            <a:ext cx="9805866" cy="2520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3660A-E599-47BE-977E-D53F5BD1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02  Core models: assumptions, training and published protocols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438150" y="5219700"/>
          <a:ext xmlns:a="http://schemas.openxmlformats.org/drawingml/2006/main" cx="9810750" cy="3343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81125"/>
                <a:gridCol w="2619375"/>
                <a:gridCol w="2428875"/>
                <a:gridCol w="3381375"/>
              </a:tblGrid>
              <a:tr h="40957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STRUCTURAL ASSUMPTION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/ OUTPUT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RECONSTRUCTED EVALUATION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DecoVAE [1]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Smooth trend + Fourier seasonality; two specialized VAE streams.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MSE + KL + smoothness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Latent forecast samples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datasets; T=96, H=24/720; 3 retrains; CRPS / NMAE. No direct calibration test.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K²VAE [2]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 dynamics in a lifted Koopman space; Kalman correction.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Koopman–Kalman VAE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Gaussian likelihood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ProbTS: 8 short / 9 long settings; typical T=H=24 or T=96, H≤720; 5 runs; CRPS / NMAE.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Chronos-2 [3]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 / group attention; cross-series information and covariates.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 multi-step forecast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 quantiles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fev-bench, GIFT-Eval, Chronos-II; rolling origins; WQL / MASE and aggregate scores.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Moirai 2.0 [4]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Channel-independent decoder Transformer; multi-token prediction.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Autoregressive quantiles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levels: 0.1–0.9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GIFT-Eval: 97 tasks / 55 datasets; normalized MASE / quantile CRPS; GIFT train in pretraining.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5892E-E4AB-4204-B172-AD4776E2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82967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03  Additional lenses: sampling-rate transfer and calibration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438150" y="9229725"/>
          <a:ext xmlns:a="http://schemas.openxmlformats.org/drawingml/2006/main" cx="9810750" cy="1685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3762375"/>
                <a:gridCol w="3952875"/>
              </a:tblGrid>
              <a:tr h="39052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 / PURPOSE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 AND EVIDENCE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ADDS TO OUR PROJECT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FlowState [5]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Sampling-rate transfer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S5 + functional Legendre decoder; quantiles. GIFT: 97 tasks; normalized MASE / quantile CRPS; rate stress tests.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separate test of time-scale assumptions. Sampling-rate robustness does not establish interval calibration.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Beyond Accuracy [6]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Calibration study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Tests quantile calibration, interval coverage and width across prediction heads and forecast horizons.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Guides our calibration tests: nominal vs observed coverage, paired with interval width. Adds evidence beyond CRPS / WQL.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0109B-81A3-419D-ADC9-51906F3D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12520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04  Synthesis: claims, evidence and missing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8E0AC-E850-44DA-9FD0-5F3FB4CD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Accurate forecasts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correct components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4AC35-F47C-435E-A831-C2A8F97A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Compare predicted trend and seasonality with known synthetic components. Overall forecast error cannot show what each branch learned.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EC783-14DD-49CA-B087-91DB584C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Good scores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calibrated intervals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96E15-0561-43B6-A103-CBB51C33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An 80% interval should cover about 80% of observations. Check coverage and width together: wide intervals can cover more yet tell us less.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31E77-1692-4FF9-BE4D-BB19788B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Zero-shot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unseen-data transfer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1874F-2C8F-4972-AAB6-979F9BCD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Some GIFT training data are included in Chronos-2 / Moirai pretraining. Check excluded sources before claiming unseen-data transfer.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53C5C5-ADA6-4E4F-A14B-1A04CF34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00162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05  Project questions and decisive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C6E5F-8DD8-439E-AFC6-A819F71A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382625"/>
            <a:ext cx="471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the branches learn their intended components?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8F391A-DBAF-42BA-BF21-834E2ACC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668375"/>
            <a:ext cx="4714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Use synthetic series with known trend and seasonality; measure component errors. Compare current and context-estimated period-aware decomposition.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5E5D03-49A3-4915-8CC0-832D5B86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3826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Does residual information improve uncertainty?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6A45E-8CFF-4C56-A1C9-8B26D655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6683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Retrain with / without residual features, keeping the variance head and NLL. Add a model without decomposition to test its overall contribution.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2A46B1-99E3-48F9-AF71-1262D9EA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354175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38" b="0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Readouts: MASE; WQL (q=0.1–0.9); calibration error, coverage and width of 40/60/80% intervals by horizon.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3AFE4A-687B-4971-91FA-D45237C5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6304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[1] DecoVAE: 2608.20052  [2] K²VAE: 2505.23017  [3] Chronos-2: 2510.15821  [4] Moirai 2.0: 2511.11698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[5] FlowState: 2508.05287  [6] Beyond Accuracy: 2510.16060. Full sources and protocol details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15411772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2026-10-05T20:25:14.6180000Z</dcterms:created>
  <dcterms:modified xsi:type="dcterms:W3CDTF">2026-10-05T20:25:14.6180000Z</dcterms:modified>
</coreProperties>
</file>