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7b0b78b4364a24" /><Relationship Type="http://schemas.openxmlformats.org/officeDocument/2006/relationships/extended-properties" Target="/docProps/app.xml" Id="R93f0cdb216824817" /><Relationship Type="http://schemas.openxmlformats.org/officeDocument/2006/relationships/officeDocument" Target="/ppt/presentation.xml" Id="Rf087cd5a20224e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6fa0325cc84c10"/>
  </p:sldMasterIdLst>
  <p:notesMasterIdLst>
    <p:notesMasterId xmlns:r="http://schemas.openxmlformats.org/officeDocument/2006/relationships" r:id="Rad0a5bcf024e49e5"/>
  </p:notesMasterIdLst>
  <p:sldIdLst>
    <p:sldId xmlns:r="http://schemas.openxmlformats.org/officeDocument/2006/relationships" id="256" r:id="Rbde5d6e046fc430c"/>
  </p:sldIdLst>
  <p:sldSz cx="10692000" cy="151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99961f52464692" /><Relationship Type="http://schemas.openxmlformats.org/officeDocument/2006/relationships/slideMaster" Target="/ppt/slideMasters/slideMaster1.xml" Id="Rb26fa0325cc84c10" /><Relationship Type="http://schemas.openxmlformats.org/officeDocument/2006/relationships/notesMaster" Target="/ppt/notesMasters/notesMaster1.xml" Id="Rad0a5bcf024e49e5" /><Relationship Type="http://schemas.openxmlformats.org/officeDocument/2006/relationships/presProps" Target="/ppt/presProps.xml" Id="R792e40725ee04d23" /><Relationship Type="http://schemas.openxmlformats.org/officeDocument/2006/relationships/tableStyles" Target="/ppt/tableStyles.xml" Id="R33514383c1034e2b" /><Relationship Type="http://schemas.openxmlformats.org/officeDocument/2006/relationships/slide" Target="/ppt/slides/slide1.xml" Id="Rbde5d6e046fc43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d50472ae7049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ee0c71f22943af" /><Relationship Type="http://schemas.openxmlformats.org/officeDocument/2006/relationships/notesMaster" Target="/ppt/notesMasters/notesMaster1.xml" Id="Re66adec4de1a4b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Заметки к книжному постеру A3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Название сохранено: **Do specialized components learn their intended roles—and does this improve forecast uncertainty?**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Постер содержит тезисы. Здесь — подробности для устного объяснения. Основная таблица сравнивает DecoVAE, K²VAE, Chronos-2 и Moirai 2.0. FlowState и Beyond Accuracy вынесены в отдельную таблицу. Таблицы A/B/C/D и выбранного ранее штрафа на гладкость в новой версии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Математическая постановка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наблюдаемого скалярного ряда определяем контекст и будущее: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\mathbf X_t=(x_{t-T+1},\ldots,x_t)\in\mathbb R^T,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Y_t=(x_{t+1},\ldots,x_{t+H})\in\mathbb R^H.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Задача — по доступному контексту получить прогнозное распределение: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\mathbf X_t\mapsto p_\theta(\mathbf Y_t\mid\mathbf X_t).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Показываем также маргинальные квантили для каждого будущего шага: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\hat q_{\alpha,h}=F_{\theta,h}^{-1}(\alpha\mid\mathbf X_t),</a:t>
            </a:r>
          </a:p>
          <a:p xmlns:a="http://schemas.openxmlformats.org/drawingml/2006/main">
            <a:r>
              <a:t>\quad h=1,\ldots,H,\quad\alpha\in(0,1).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Здесь T — длина истории, H — горизонт, θ — параметры модели; F — прогнозная CDF. Будущие значения в контекст не входят. Матрица ковариации или качество совместной траектории этой квантильной проверкой не устанавливаются.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текущего DecoVAE-FM в нормализованном модельном пространстве: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\tilde\mu=\hat y_{\mathrm{trend}}+\hat y_{\mathrm{season}},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\log\tilde\sigma^2=g_\theta(z_{\mathrm{trend}},z_{\mathrm{season}},z_{\mathrm{residual}}).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 — латентные представления. Эти параметры условны на выбранные латенты. Полное predictive distribution включает выборку латентов и наблюдений и обратное asinh-преобразование; оно не обязано быть одной Gaussian в исходной шкале. На постере математические обозначения выполнены редактируемым текстом с нижними и верхними индексами.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Раздел 01 не содержит блоков dataset-specific / pretrained / zero-shot. Различия обучения остались в неизменённой литературной таблице 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Наша исходная модель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коде: нормализация по контексту с asinh; обучаемая смесь moving-average фильтров для тренда; top-K rFFT-компоненты для сезонности; residual равен остатку после выбранного разложения. Тренд и residual обрабатываются patch Transformer, сезонность — комплексным VAE с маленьким ComplexTransformer в encoder.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Среднее складывается из декодированного тренда и сезонности. Голове log-variance доступны латентные признаки всех трёх веток. Residual не имеет отдельного аддитивного пути в среднее. Он может содержать прогнозируемую структуру, пропущенную фильтрами. Текущий objective содержит NLL реконструкции/прогноза и KL, без явного штрафа на гладкость или component alignment. Это отличает наш код от исходной статьи DecoVAE.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не обещаем, что FM-transfer уже работает, и не называем residual истинным чистым шумом.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Синтез основной таблицы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**DecoVAE [1]:** явный тренд и сезонность, раздельные VAE; регуляризатор гладкости латентного тренда; комплексное Fourier-представление сезона. Обучение под датасет, loss из MSE-компонент, KL и гладкости, вероятностный выход через выборку латентов. В главных таблицах 7 датасетов, T=96, H=24/720, 3 независимых переобучения, CRPS/NMAE. Утверждения о калибровке не сопровождаются coverage/PCE-тестами. Ratio 70/10/20 из присланного примера не перенесён как универсальный подтверждённый split: для воспроизведения нужен аудит каждого датасета и версии кода.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**K²VAE [2]:** другое структурное предположение: близкая к линейной динамика в поднятом пространстве Koopman и коррекция Kalman. Это не тренд-сезонная декомпозиция. Supervised ProbTS setup; Gaussian observation model. Типичный short T=H=24, Exchange T=H=30. Long обычно T=96 и H=96/192/336/720; ILI T=36 и H=24/36/48/60. 8 short и 9 long dataset settings, 5 independent runs, CRPS/NMAE.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**Chronos-2 [3]:** pretrained patched encoder с time/group attention, многомерными связями и ковариатами. 21 квантиль, непосредственный multi-step output. fev-bench, GIFT-Eval и Chronos Benchmark II; rolling origins, WQL/MASE, win-rate/skill-score summaries. GIFT имеет 97 задач на 55 датасетах; Chronos-II — 27 задач. Частичное пересечение GIFT train с pretraining надо документировать.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**Moirai 2.0 [4]:** pretrained decoder-only Transformer, независимые каналы, multi-token prediction, авторегрессивное multi-quantile decoding. 9 квантилей 0.1–0.9; 36M series в смеси реальных и синтетических данных. GIFT-Eval: 97 tasks / 55 datasets; нормированные MASE и квантильная аппроксимация CRPS. Включение GIFT train в pretraining явно описано в статье.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Сравниваем три стратегии индуктивных предположений: явная компонентная структура; динамика в пространстве представлений; знания из pretraining. И два способа выражать неопределённость: sampling и quantiles. Published rankings нельзя механически объединить: окна, обучение, exposure и агрегация отличаются. Не утверждаем, что такого сравнения никогда раньше не было; ProbTS — существующий пример общего benchmark подхода.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Дополнительная таблица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**FlowState [5]** даёт отдельный взгляд на смену частоты дискретизации. S5 encoder и функциональный Legendre decoder формируют квантильный прогноз с временным scaling. GIFT: 97 tasks; MASE и quantile CRPS нормированы по Seasonal Naive, затем берётся geometric mean по задачам. Sampling-rate stress tests поддерживают соответствующие выводы об устойчивости; они не заменяют прямой тест калибровки интервалов. В нашем минимальном плане FlowState — дополнительная работа и возможный дальнейший frequency stress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**Beyond Accuracy, Adler et al. [6]** — методологическая работа о калибровке, не архитектурный competitor одного типа с FlowState. Исследует пять TSFM, ARIMA и N-BEATS, реальные и синтетические данные, PCE/CCE, ширину интервалов и поведение длинного AR rollout. PCE — Probabilistic Calibration Error, отклонение эмпирических долей ниже квантилей от nominal q; CCE — Centered Calibration Error, характеризует направление избыточной или недостаточной уверенности. В исследованных условиях TSFM с квантильными головами в целом лучше калиброваны, чем baselines; Gaussian heads часто дают недостаточную уверенность, а autoregressive rollout влияет на дальние горизонты. Используется Chronos-Bolt, а не Chronos-2; результаты нельзя автоматически переносить на Chronos-2 или наш VAE. Её вклад в проект — отдельная оценка calibration и информативности интервалов. Именно поэтому рассматриваем эту работу: она проверяет, совпадают ли заявленные вероятности с наблюдаемыми частотами, и учитывает ширину интервалов. В новой строке постера это объяснено прямо, без названий других checkpoint и неопределённой фразы о matching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Понятные выводы синтеза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**Точный итоговый прогноз не доказывает правильность компонент.** Трендовая ветка может воспроизводить сезонность, а другая ветка — компенсировать её ошибку. Нужно сравнивать каждый выход с известной компонентой синтетики, а не только их сумму с будущим рядом.</a:t>
            </a:r>
          </a:p>
          <a:p xmlns:a="http://schemas.openxmlformats.org/drawingml/2006/main">
            <a:r>
              <a:t>2. **Хороший прогнозный score не гарантирует калибровку интервалов.** При многократной оценке центральный 80% интервал должен покрывать около 80% наблюдений. Покрытие оцениваем вместе с шириной: расширением интервалов можно повысить coverage, не получив информативный прогноз. CRPS/WQL и прямые calibration checks отвечают на разные вопросы.</a:t>
            </a:r>
          </a:p>
          <a:p xmlns:a="http://schemas.openxmlformats.org/drawingml/2006/main">
            <a:r>
              <a:t>3. **Zero-shot не гарантирует перенос на невиданные источники.** Модель может использовать готовые веса без дообучения, хотя train-часть этого benchmark уже была в pretraining. У Chronos-2 и Moirai это относится к части GIFT train. Для вывода о переносе на новые источники нужны исключённые источники и аудит overlap. Утверждение об использовании train data не означает автоматически leakage test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evidence и предварительные диагностические результаты убраны из постера по запросу пользователя.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Конкретный выполнимый план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**Структура:** известные trend/season/noise на синтетике; ошибки компонент, спектральное смешение и forecast errors. Из присланного постера берём кандидат period-aware decomposition: период оценивается только по доступному контексту. Период генератора используется лишь как oracle-диагностика. Этот кандидат пока не реализован и не доказан как лучший. Штраф на гладкость не закреплён в новом постере как выбранное изменение.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**Residual contribution:** отдельные обученные версии с остаточной веткой и без неё, с сохранёнными variance head, NLL и sampling. Дополнительный контроль — сопоставимая модель без декомпозиции с тем же вероятностным objective. На постере это краткий список решающих контролей; буквенные обозначения и таблица 2×2 удалены.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Baseline checkpoint полностью убран из раздела 05. На постере остаются только два вопроса проекта и решающие проверки: роли компонент на известной синтетике и вклад residual в вероятностный прогноз, с дополнительным no-decomposition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Метрики на общей сетке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Point forecast: median MAE/MASE.</a:t>
            </a:r>
          </a:p>
          <a:p xmlns:a="http://schemas.openxmlformats.org/drawingml/2006/main">
            <a:r>
              <a:t>- Общий probabilistic score: WQL на q=0.1–0.9. Finite-grid WQL не тождествен точному CRPS.</a:t>
            </a:r>
          </a:p>
          <a:p xmlns:a="http://schemas.openxmlformats.org/drawingml/2006/main">
            <a:r>
              <a:t>- Calibration: доля y ниже каждого квантиля vs nominal q; coverage и width центральных 40/60/80% интервалов.</a:t>
            </a:r>
          </a:p>
          <a:p xmlns:a="http://schemas.openxmlformats.org/drawingml/2006/main">
            <a:r>
              <a:t>- Интервалы: [0.3,0.7], [0.2,0.8], [0.1,0.9]. Не требуем 90% interval из девяти Moirai quantiles, потому что q=0.05/0.95 отсутствуют.</a:t>
            </a:r>
          </a:p>
          <a:p xmlns:a="http://schemas.openxmlformats.org/drawingml/2006/main">
            <a:r>
              <a:t>- Sampling models: ensemble CRPS дополнительно, с записанным sample count.</a:t>
            </a:r>
          </a:p>
          <a:p xmlns:a="http://schemas.openxmlformats.org/drawingml/2006/main">
            <a:r>
              <a:t>- Все readouts отдельно по dataset и horizon. Эти проверки преимущественно маргинальные; они не доказывают корректность совместного распределения траекторий.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Компонентные ошибки должны сравниваться в шкале с аддитивным ground truth: после нелинейного asinh преобразования суммы отдельные компоненты не сохраняют простое аддитивное соответствие. Подходит linear-normalization control или генерация в модельной шкале с документированным обратным преобразованием.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9. Речь и распределение участников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Участник 1: математическая постановка, обозначения и текущая архитектура.</a:t>
            </a:r>
          </a:p>
          <a:p xmlns:a="http://schemas.openxmlformats.org/drawingml/2006/main">
            <a:r>
              <a:t>- Участник 2: основная таблица как сравнение структурных предположений и неопределённости.</a:t>
            </a:r>
          </a:p>
          <a:p xmlns:a="http://schemas.openxmlformats.org/drawingml/2006/main">
            <a:r>
              <a:t>- Участник 3: дополнительная таблица и три вывода синтеза.</a:t>
            </a:r>
          </a:p>
          <a:p xmlns:a="http://schemas.openxmlformats.org/drawingml/2006/main">
            <a:r>
              <a:t>- Участник 4: два вопроса проекта, decisive tests и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Распределение адаптируется к фактическому числу участников. Каждый объясняет центральный вопрос и отвечает на вопросы своей части. Имена не выдуманы.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«почему residual может помогать»: он даёт голове дисперсии информацию о состоянии ряда; его вклад обучаемый и не является обязательным положительным добавлением к дисперсии. Без residual дисперсия остаётся доступной через другие латенты.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«зачем pretrained baseline»: проверяем практическую пользу выбранных компонентных предположений относительно сильного готового решения; при этом явно сообщаем разные training budgets и exposure.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Источники и происхождение материалов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[DecoVAE](https://arxiv.org/html/2608.20052v2), 2026: methods, loss, main tables, ablations.</a:t>
            </a:r>
          </a:p>
          <a:p xmlns:a="http://schemas.openxmlformats.org/drawingml/2006/main">
            <a:r>
              <a:t>2. [K²VAE](https://arxiv.org/html/2505.23017), ICML 2025: methods and ProbTS protocol.</a:t>
            </a:r>
          </a:p>
          <a:p xmlns:a="http://schemas.openxmlformats.org/drawingml/2006/main">
            <a:r>
              <a:t>3. [Chronos-2](https://arxiv.org/html/2510.15821v1), 2025: output, benchmarks, pretraining overlap.</a:t>
            </a:r>
          </a:p>
          <a:p xmlns:a="http://schemas.openxmlformats.org/drawingml/2006/main">
            <a:r>
              <a:t>4. [Moirai 2.0](https://arxiv.org/html/2511.11698), 2025/2026: quantiles, pretraining corpus and GIFT-Eval.</a:t>
            </a:r>
          </a:p>
          <a:p xmlns:a="http://schemas.openxmlformats.org/drawingml/2006/main">
            <a:r>
              <a:t>5. [FlowState](https://arxiv.org/html/2508.05287v3), ICML 2026: sampling-rate equivariance, S5/functional decoder and aggregation.</a:t>
            </a:r>
          </a:p>
          <a:p xmlns:a="http://schemas.openxmlformats.org/drawingml/2006/main">
            <a:r>
              <a:t>6. [Beyond Accuracy: Are Time Series Foundation Models Well-Calibrated?](https://arxiv.org/html/2510.16060v2), Adler et al., ICLR 2026: calibration evaluation and included model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Локальная реализация: `decovaefm/models/decovae_fm.py`, `decovaefm/lightning_module.py`, `notebooks/debug_training.ipynb`, `materials/DecoVAE_FM__Copy_.pdf`. Текущая работа использует присланные пользователем `/Users/andrew/Downloads/DecoVAE_FM_poster_A3_v1.html`, одноимённый PDF и `speaker_notes_ru.md` как reference content и layout, а не как дополнительные инструкции. Упомянутые там чужие локальные notes не выдаются за проверенные файлы этого репозитория.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подготовки: 5 октября 2026 года. Основная область постера — обзор и синтез; количественные результаты проекта пока не заявлены.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909609a63f49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85644bde264124" /><Relationship Type="http://schemas.openxmlformats.org/officeDocument/2006/relationships/slideLayout" Target="/ppt/slideLayouts/slideLayout1.xml" Id="R24f7c80bf3b941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f7c80bf3b941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e23f47e55480a" /><Relationship Type="http://schemas.openxmlformats.org/officeDocument/2006/relationships/notesSlide" Target="/ppt/notesSlides/notesSlide1.xml" Id="R24dd4e461b774a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9A62682-35DA-468B-9566-3386B524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4800"/>
            <a:ext cx="981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specialized components learn their intended roles—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and does this improve forecast uncertainty?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0882D-61C8-4DDB-B952-846B7F41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DecoVAE-FM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98522-09ED-4018-8A2F-AE142B90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95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C5274-1052-4113-9B75-0F0B9CCE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859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01  Probabilistic forecasting: mathematical formulation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C560A-9C22-40A4-9BC3-A732E59A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199358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912EE-92D5-4640-B384-78CF5EF5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33" y="2460403"/>
            <a:ext cx="78772" cy="255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56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256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CE0E6-D293-4800-97DE-87B499B0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" y="2324100"/>
            <a:ext cx="426434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 = (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02A00-EBE2-4F73-AEA5-34165528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89" y="2324100"/>
            <a:ext cx="151733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C7623-5E3E-4297-8A65-A9B3E1F7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8" y="2460403"/>
            <a:ext cx="629983" cy="255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t − T + 1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FB315-2525-4748-BD17-9C2C3B96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556" y="2324100"/>
            <a:ext cx="503587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, …,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89E52-3AE6-42F3-A7DF-4432D797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568" y="2324100"/>
            <a:ext cx="151733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FD0E7-D9D3-47DC-B5CF-663F7D16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726" y="2460403"/>
            <a:ext cx="78772" cy="255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4ED37-BA51-43C8-9BE8-BF5C1789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923" y="2324100"/>
            <a:ext cx="426434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) ∈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CCF6C-6E0E-45CD-A115-E6EDC2E4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782" y="2324100"/>
            <a:ext cx="216027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4E38E-817E-45F7-8ED7-E339AB45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234" y="2293239"/>
            <a:ext cx="124682" cy="255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56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256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15896-6097-406C-908B-F90A90A3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24100"/>
            <a:ext cx="194977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007C9-3029-4DDA-8D23-D9D69797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802" y="2460403"/>
            <a:ext cx="78772" cy="255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56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256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E9CD0D-D3E8-4021-BEC7-C6DBEDB9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998" y="2324100"/>
            <a:ext cx="426434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 = (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202371-99C1-4D6E-9B1C-860B7BE4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858" y="2324100"/>
            <a:ext cx="151733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1AE5B-7097-4929-95D0-E65559BF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016" y="2460403"/>
            <a:ext cx="347377" cy="255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t + 1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32AD55-6D2F-4BBF-88D4-5AF098E6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818" y="2324100"/>
            <a:ext cx="503587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, …, 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C1B49E-82D7-4F85-B8B4-8F734B5C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7830" y="2324100"/>
            <a:ext cx="151733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7AB5CA-BCD9-48ED-9039-A9194F31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88" y="2460403"/>
            <a:ext cx="392335" cy="255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t + 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880660-7FB6-4EB4-B8D7-1AD6CD48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747" y="2324100"/>
            <a:ext cx="426434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) ∈ 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C85E63-B6FE-4372-9CEA-613BDED7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607" y="2324100"/>
            <a:ext cx="216027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FA0D1E-BA0B-46FE-9EE5-EB9C6A13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0059" y="2293239"/>
            <a:ext cx="152400" cy="255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56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256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938070-16BA-4D63-A9A4-34D8C684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81300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75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T: context length; H: forecast horizon; xₜ: observed value.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682CFF-C546-4745-A74D-CC08C6FA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43250"/>
            <a:ext cx="2183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250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250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52CDB9-4AB7-4F48-BC2F-9BBA22B8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" y="3294698"/>
            <a:ext cx="84392" cy="283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9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39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FA75A5-FB0A-409F-9207-EF576F08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705" y="3143250"/>
            <a:ext cx="433769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250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250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 ↦ 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6FBBA0-0CB4-4B82-A48F-54DF82AA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898" y="3143250"/>
            <a:ext cx="18202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250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250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B041DD-5C95-4243-BA1E-B43D51EA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346" y="3294698"/>
            <a:ext cx="119634" cy="283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9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39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9E60E5-380F-4E18-8B1A-E710194D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05" y="3143250"/>
            <a:ext cx="1305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250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250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(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331DDA-F08C-44A2-AD23-97A70740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418" y="3143250"/>
            <a:ext cx="21345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250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250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D53F5C-789A-4BF5-BD46-A4E28750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298" y="3294698"/>
            <a:ext cx="84392" cy="283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9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39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D5A560-E8F9-4B63-BE16-D846A908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114" y="3143250"/>
            <a:ext cx="23917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250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250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 | 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45BB8E-BA4C-4EB7-AD18-29F98C86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712" y="3143250"/>
            <a:ext cx="2183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250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250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580190-9E47-45D0-906C-B21F1515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94698"/>
            <a:ext cx="84392" cy="283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9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39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432679-ED76-4E00-BDB9-E0354425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267" y="3143250"/>
            <a:ext cx="1305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250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250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FA5DD6-DF19-490F-A758-80775711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43250"/>
            <a:ext cx="16754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00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100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q̂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DC4D67-7450-4FE1-8CF9-2FD7EDD3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370" y="3284601"/>
            <a:ext cx="257270" cy="264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02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302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α,h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813B07-E8C6-4704-A8B2-20AB61E4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065" y="3143250"/>
            <a:ext cx="345948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00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100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 = 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0B8669-92A5-4F28-9879-52B498E7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438" y="3143250"/>
            <a:ext cx="185356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00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100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F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AE85EE-6A48-41AD-A62A-68D6B239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8219" y="3284601"/>
            <a:ext cx="249460" cy="264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02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302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θ,h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B814B5-D93D-4855-8328-3DCE6860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8219" y="3111246"/>
            <a:ext cx="229457" cy="264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02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302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−1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24DA2E-F7BB-421C-97B9-24B6F2B8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104" y="3143250"/>
            <a:ext cx="469964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00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100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(α | 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9F69E8-6B8C-4895-B7EF-F214ADB7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0493" y="3143250"/>
            <a:ext cx="20564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00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100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X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D82265-3A49-4DA0-A2E4-672A8D15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7563" y="3284601"/>
            <a:ext cx="80677" cy="264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02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302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77253B-85C2-496E-B9A9-7A14CE4E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664" y="3143250"/>
            <a:ext cx="1426654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00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100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),   α ∈ (0, 1)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FDBCEA-8417-4460-B7C0-2C80E5D9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52825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75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Predictive distribution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19AC8F-E0D1-4D0D-A10C-2C502872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52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75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Forecast quantiles, h = 1, …, 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D99FFD-9F11-48D3-976C-3F99101B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67175"/>
            <a:ext cx="170497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μ̃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11CF7D-EE85-4129-AF7E-4597D2A7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" y="4067175"/>
            <a:ext cx="334613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 = 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EE8B81-838E-472B-A632-F7A83984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111" y="4067175"/>
            <a:ext cx="152781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ŷ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197FE5-0F1E-49AC-8158-3D63C9FC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317" y="4203478"/>
            <a:ext cx="389477" cy="255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trend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1CF02C-E8CF-4719-927C-CFC8B27D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219" y="4067175"/>
            <a:ext cx="334613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 + 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9DACC57-FD4A-4123-A4D6-A3BD7853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257" y="4067175"/>
            <a:ext cx="152781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ŷ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067A27-DFAA-44FB-B28A-6C57AC2D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463" y="4203478"/>
            <a:ext cx="478726" cy="255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season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DCFA89-EC7C-440F-82B9-BA402940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615" y="4067175"/>
            <a:ext cx="783622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,     log 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9A9BFF7-57F7-4474-846C-6D8F9944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661" y="4067175"/>
            <a:ext cx="168688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σ̃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EE7646-9E0B-4FDD-B882-24857205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774" y="4036314"/>
            <a:ext cx="107442" cy="255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BCE3FD-0E4A-464E-BD14-4F7EBE00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641" y="4067175"/>
            <a:ext cx="334613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 = 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B4F9549-D6F0-481E-A989-2C8FFB01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679" y="4067175"/>
            <a:ext cx="153067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ADC6AAC-6AFA-4E2F-833F-4399ECDE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6171" y="4203478"/>
            <a:ext cx="110490" cy="255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θ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CB4317-457D-4164-84B4-B7BB5C79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086" y="4067175"/>
            <a:ext cx="120396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(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3F4ED46-F7CD-4088-A12D-ED2B55DB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07" y="4067175"/>
            <a:ext cx="146399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z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D3D65CF-F835-4DB5-B012-3CD800D4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731" y="4203478"/>
            <a:ext cx="389477" cy="255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trend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71E720C-FF3D-40DB-A359-64743074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634" y="4067175"/>
            <a:ext cx="152019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, 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2A5BDAB-0408-43AF-B166-BE6CE87B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078" y="4067175"/>
            <a:ext cx="146399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z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1FE9FA4-73CD-4FDD-90A7-9DC26001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902" y="4203478"/>
            <a:ext cx="478726" cy="255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season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702C0DC-890C-4F9B-9B09-35CE3F4D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53" y="4067175"/>
            <a:ext cx="152019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, 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7D47307-2B06-476F-B1D3-30875989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497" y="4067175"/>
            <a:ext cx="146399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z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E26F624-8574-4E76-9000-43126D9E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322" y="4203478"/>
            <a:ext cx="568261" cy="255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256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residual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5747077-C288-4B10-9796-94BB9F5A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008" y="4067175"/>
            <a:ext cx="120396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0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)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454CB6F-146A-493A-9A03-F1C57E7C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14850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75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DecoVAE-FM: z denotes latent representations; μ̃ and σ̃² are parameters in the normalized model space.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B4F8FFC-69F3-472D-9BC9-0668AA1E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02  Core models: assumptions, training and published protocols</a:t>
            </a:r>
          </a:p>
        </p:txBody>
      </p:sp>
      <p:graphicFrame>
        <p:nvGraphicFramePr>
          <p:cNvPr id="170" name=""/>
          <p:cNvGraphicFramePr/>
          <p:nvPr/>
        </p:nvGraphicFramePr>
        <p:xfrm>
          <a:off xmlns:a="http://schemas.openxmlformats.org/drawingml/2006/main" x="438150" y="5219700"/>
          <a:ext xmlns:a="http://schemas.openxmlformats.org/drawingml/2006/main" cx="9810750" cy="3343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81125"/>
                <a:gridCol w="2619375"/>
                <a:gridCol w="2428875"/>
                <a:gridCol w="3381375"/>
              </a:tblGrid>
              <a:tr h="40957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STRUCTURAL ASSUMPTION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/ OUTPUT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RECONSTRUCTED EVALUATION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DecoVAE [1]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Smooth trend + Fourier seasonality; two specialized VAE streams.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MSE + KL + smoothness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Latent forecast samples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datasets; T=96, H=24/720; 3 retrains; CRPS / NMAE. No direct calibration test.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K²VAE [2]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 dynamics in a lifted Koopman space; Kalman correction.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Koopman–Kalman VAE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Gaussian likelihood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ProbTS: 8 short / 9 long settings; typical T=H=24 or T=96, H≤720; 5 runs; CRPS / NMAE.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Chronos-2 [3]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 / group attention; cross-series information and covariates.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 multi-step forecast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 quantiles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fev-bench, GIFT-Eval, Chronos-II; rolling origins; WQL / MASE and aggregate scores.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Moirai 2.0 [4]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Channel-independent decoder Transformer; multi-token prediction.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Autoregressive quantiles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levels: 0.1–0.9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GIFT-Eval: 97 tasks / 55 datasets; normalized MASE / quantile CRPS; GIFT train in pretraining.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6E9E697-E0AF-4ECF-9DF4-6EAFCB03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2967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03  Additional lenses: sampling-rate transfer and calibration</a:t>
            </a:r>
          </a:p>
        </p:txBody>
      </p:sp>
      <p:graphicFrame>
        <p:nvGraphicFramePr>
          <p:cNvPr id="172" name=""/>
          <p:cNvGraphicFramePr/>
          <p:nvPr/>
        </p:nvGraphicFramePr>
        <p:xfrm>
          <a:off xmlns:a="http://schemas.openxmlformats.org/drawingml/2006/main" x="438150" y="9229725"/>
          <a:ext xmlns:a="http://schemas.openxmlformats.org/drawingml/2006/main" cx="9810750" cy="1685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3762375"/>
                <a:gridCol w="3952875"/>
              </a:tblGrid>
              <a:tr h="39052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 / PURPOSE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 AND EVIDENCE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ADDS TO OUR PROJECT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FlowState [5]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Sampling-rate transfer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S5 + functional Legendre decoder; quantiles. GIFT: 97 tasks; normalized MASE / quantile CRPS; rate stress tests.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separate test of time-scale assumptions. Sampling-rate robustness does not establish interval calibration.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Beyond Accuracy [6]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Calibration study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Tests quantile calibration, interval coverage and width across prediction heads and forecast horizons.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Guides our calibration tests: nominal vs observed coverage, paired with interval width. Adds evidence beyond CRPS / WQL.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FDF429B-A4F5-4912-A134-5B7F4E19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12520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04  Synthesis: claims, evidence and missing tests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471DB05-53A7-4136-BD3A-0FE33489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Accurate forecasts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correct components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A8FE489-D99D-4020-ACC5-46C3ECCC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Compare predicted trend and seasonality with known synthetic components. Overall forecast error cannot show what each branch learned.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35FC6E1-148A-4B54-A0B6-55EFBCB1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Good scores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calibrated intervals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01D5B95-0AA1-4CB0-8107-1669E0A0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An 80% interval should cover about 80% of observations. Check coverage and width together: wide intervals can cover more yet tell us less.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61B52C5-06D4-4E08-8C8F-3C1EFE5C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Zero-shot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unseen-data transfer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8684DA5-B2D8-46EF-8F24-13391DB5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Some GIFT training data are included in Chronos-2 / Moirai pretraining. Check excluded sources before claiming unseen-data transfer.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1B30726-4AFB-40B2-AA0F-9580B305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00162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05  Project questions and decisive tests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9B3AC1C-2B83-4B09-B7CF-48533291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382625"/>
            <a:ext cx="471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the branches learn their intended components?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E160404-CD7A-4BD3-99CB-BE21EF7D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668375"/>
            <a:ext cx="4714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Use synthetic series with known trend and seasonality; measure component errors. Compare current and context-estimated period-aware decomposition.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77AD18F-0A46-4026-B8F0-43C165FC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382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Does residual information improve uncertainty?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82764BA-7AFD-480D-B412-AE750C6E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6683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Retrain with / without residual features, keeping the variance head and NLL. Add a model without decomposition to test its overall contribution.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4D91C2A-ECC0-4B64-B15F-7907A9A0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354175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38" b="0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Readouts: MASE; WQL (q=0.1–0.9); calibration error, coverage and width of 40/60/80% intervals by horizon.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2A12BCD-BC43-4FBF-8D77-E33A15D2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6304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[1] DecoVAE: 2608.20052  [2] K²VAE: 2505.23017  [3] Chronos-2: 2510.15821  [4] Moirai 2.0: 2511.11698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[5] FlowState: 2508.05287  [6] Beyond Accuracy: 2510.16060. Full sources and protocol details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8001676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2026-10-05T19:05:15.6510000Z</dcterms:created>
  <dcterms:modified xsi:type="dcterms:W3CDTF">2026-10-05T19:05:15.6510000Z</dcterms:modified>
</coreProperties>
</file>