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a5f3ebb274896" /><Relationship Type="http://schemas.openxmlformats.org/officeDocument/2006/relationships/extended-properties" Target="/docProps/app.xml" Id="Re02790da8ad64e97" /><Relationship Type="http://schemas.openxmlformats.org/officeDocument/2006/relationships/officeDocument" Target="/ppt/presentation.xml" Id="R7feb4718c5bb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0b29fbb81c41de"/>
  </p:sldMasterIdLst>
  <p:notesMasterIdLst>
    <p:notesMasterId xmlns:r="http://schemas.openxmlformats.org/officeDocument/2006/relationships" r:id="R68e4ba92fce14ddc"/>
  </p:notesMasterIdLst>
  <p:sldIdLst>
    <p:sldId xmlns:r="http://schemas.openxmlformats.org/officeDocument/2006/relationships" id="256" r:id="R50ec42cf79e441a4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39c1129e843f1" /><Relationship Type="http://schemas.openxmlformats.org/officeDocument/2006/relationships/slideMaster" Target="/ppt/slideMasters/slideMaster1.xml" Id="R6a0b29fbb81c41de" /><Relationship Type="http://schemas.openxmlformats.org/officeDocument/2006/relationships/notesMaster" Target="/ppt/notesMasters/notesMaster1.xml" Id="R68e4ba92fce14ddc" /><Relationship Type="http://schemas.openxmlformats.org/officeDocument/2006/relationships/presProps" Target="/ppt/presProps.xml" Id="R72ffc60a498f4619" /><Relationship Type="http://schemas.openxmlformats.org/officeDocument/2006/relationships/tableStyles" Target="/ppt/tableStyles.xml" Id="R3a53b104d5c9400f" /><Relationship Type="http://schemas.openxmlformats.org/officeDocument/2006/relationships/slide" Target="/ppt/slides/slide1.xml" Id="R50ec42cf79e4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402d99d65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175411edd471f" /><Relationship Type="http://schemas.openxmlformats.org/officeDocument/2006/relationships/notesMaster" Target="/ppt/notesMasters/notesMaster1.xml" Id="R828c0ba5bafb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Чёткая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доступной истории длины T оцениваем распределение будущих значений на горизонте H. Проверяем три свойства: точность прогноза, выполнение назначенных ролей компонент и калибровку неопределённости. Наша архитектура задаёт явные пути для тренда, сезонности и остатка; сравниваем их пользу с моделями, использующими другие предположения.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Предложены два режима оценки на одинаковых целевых окнах: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**Dataset-specific supervised training:** обучаем DecoVAE-FM на train-части целевого датасета; выбираем настройки только по validation. Внешний K²VAE — содержательный обучаемый конкурент при доступном бюджете.</a:t>
            </a:r>
          </a:p>
          <a:p xmlns:a="http://schemas.openxmlformats.org/drawingml/2006/main">
            <a:r>
              <a:t>- **Pretrained / zero-shot inference:** используем опубликованные checkpoint Chronos-2 и Moirai 2.0, не дообучая их на целевом наборе. История ряда подаётся в модель как контекст, это допустимо в zero-shot forecasting.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Dataset-specific здесь означает обучение под конкретный датасет, а не масштабное предварительное обучение. Pretrained относится к внешним моделям с готовыми весами. Если в дальнейшем предобучаем нашу модель на смеси источников и проверяем перенос, нужен отдельный протокол с исключёнными источниками. В текущем репозитории такой перенос не доказан.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Zero-shot inference не гарантирует, что источник данных полностью отсутствовал в pretraining. Chronos-2 исключает GIFT test portions, но включает часть train portions; Moirai 2.0 также использует GIFT-Eval train split. Это не автоматически test leakage, однако вывод о переносе на совершенно новые источники требует отдельного аудита. Обе ветви нашего сравнения используют одинаковые context/horizon, origins и readouts; режимы и предобучение фиксируются в таблице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Три тезиса критического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**Forecast gains ≠ recovered roles.** Более точная сумма компонентов не доказывает, что каждая ветка восстанавливает истинную компоненту. Нужна синтетика с известной структурой и согласованной шкалой.</a:t>
            </a:r>
          </a:p>
          <a:p xmlns:a="http://schemas.openxmlformats.org/drawingml/2006/main">
            <a:r>
              <a:t>2. **CRPS/WQL ≠ calibration alone.** Прогнозный score оценивает распределение в целом. Добавляем quantile calibration error, coverage и interval width по горизонту. Очень широкие интервалы могут иметь хорошее coverage и быть малоинформативными.</a:t>
            </a:r>
          </a:p>
          <a:p xmlns:a="http://schemas.openxmlformats.org/drawingml/2006/main">
            <a:r>
              <a:t>3. **Zero-shot ≠ unseen-source transfer.** Отсутствие target fine-tuning и отсутствие source overlap — разные условия. Аудируем checkpoint exposure и сохраняем режим обучения рядом с результатом.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**Практический baseline:** Seasonal Naive с интервалами из train-остатков. Chronos-2 и Moirai 2.0 — frozen zero-shot ориентиры. Дешёвая validation-only recalibration может служить дополнительным контролем: улучшение calibration не обязательно требует новой ветки.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**Предложенный первый benchmark:** Electricity, T=512, H=96, три seeds. Эти параметры взяты из присланного плана и отмечены как proposed; данные, source version, split и exposure проверяются до финальной test-оценки. После устойчивого loop добавляем H=192 или второй датасет. Не обещаем сразу все возможные архитектурные замены.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**Checkpoint:** repo запускается по документированному setup; data preparation описана; temporal splits и origins сохранены в manifest; preprocessing не использует будущее; первый baseline и полный smoke test; записаны seeds, прогнозы, метрики, runtime и устройство. В ту же неделю — claim-to-experiment map и границы предварительных выводов. Только validation tuning. В текущем converter hash-split whole series, двусторонняя интерполяция и M4-concatenation требуют отдельного решения для выбранного causal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Предварительное наблюдение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четырёх сохранённых синтетических диагностических примерах периодический сигнал преимущественно следует decoded trend, а decoded seasonality слаб. Это posterior-mean decode из `notebooks/debug_training.ipynb`, не вновь воспроизведённый benchmark и не полная MC uncertainty evaluation. Наблюдение мотивирует количественные role tests. Noise-off study и внешнее сравнение пока планируются.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задача, training regimes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decisive tests, metrics и baseline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4aa364185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b92c8b7da4c50" /><Relationship Type="http://schemas.openxmlformats.org/officeDocument/2006/relationships/slideLayout" Target="/ppt/slideLayouts/slideLayout1.xml" Id="R1fa09b5145d24f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09b5145d24f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08cca0be04204" /><Relationship Type="http://schemas.openxmlformats.org/officeDocument/2006/relationships/notesSlide" Target="/ppt/notesSlides/notesSlide1.xml" Id="R437adf6a0c6146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514A4-ABDE-4ED1-92D8-D58516A9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B5810-C36B-4B20-A8CB-DE034E1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  /  Research problem and literature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95D10-7A67-4EA2-95CC-D7B949E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679F7-3F88-4B13-A66D-82FF9D79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Task and evaluation regimes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289C6-7922-43F8-9990-581F9C1F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75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Given T past observations, predict the distribution of the next H values.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75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Test component roles, forecast accuracy and calibration on shared target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4CEFD-6A24-4416-9167-EAF6D36E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71800"/>
            <a:ext cx="471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Dataset-specific supervised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541C-53FC-4B2D-814C-5269B43B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67075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Train DecoVAE-FM on the target train split.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Select settings on validation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CE596-BE04-4D12-A4D3-00CA942D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Pretrained / zero-shot 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54F81-93AA-48D0-9001-672D070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67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frozen Chronos-2 / Moirai 2.0 checkpoints.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No target-dataset fine-tuning.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31847-4CCA-4C99-9893-2B1E8E6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Shared target windows, splits, origins and metrics; record training cost and pretraining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11D42-5815-416C-BDFF-2626D39B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00525"/>
            <a:ext cx="981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Our implementation: multi-scale trend Transformer + Fourier seasonal VAE + residual Transformer.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Mean = trend + seasonality; the variance head uses all three latent representations.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B5178-71AF-4756-A327-65FDCFA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E8B1F-3400-45A0-BB96-A0329793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Adler et al.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TSFMs + ARIMA / N-BEATS; PCE / CCE and width. TSFM quantile forecasts generally calibrate better than the baselines.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 calibration by horizon and head type. Study uses Chronos-Bolt; conclusions require matching model versions.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829F-7B1E-40E8-8B67-9D63B40A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2BD95-11AA-47C6-B183-37397CDD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Forecast gains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recovered component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7B482-EF14-453E-A4C4-581F3B5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Benchmark scores support forecasting. Known-component synthetic tests must establish the roles.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16F44-CE5A-4928-98F7-A728073C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CRPS / WQL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calibration alone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B500E-EB70-4332-88C5-9F5CB4D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Check quantile calibration, coverage and width together, by horizon; match origins and aggregation.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29440-C95F-4427-969E-EEE1F35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2DA96-39D2-49EE-9286-28E9F98D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Chronos-2 / Moirai include some GIFT train data. Audit exposure; report training regimes separately.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A5839-812D-4FBE-A359-B5A3B500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763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936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36220"/>
                </a:solidFill>
                <a:latin typeface="Helvetica Neue"/>
                <a:ea typeface="Helvetica Neue"/>
                <a:cs typeface="Helvetica Neue"/>
              </a:rPr>
              <a:t>Local evidence: saved synthetic diagnostics show weak seasonal output in the tested setup; quantitative role tests remain.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A1B5D-DDF1-40E8-956D-F2587F8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tests and a feasible checkpoint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2C09B-E468-47C5-9A56-870E379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6357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425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Decisive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566A4-9289-458C-A655-D4C5DDE4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302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Known-component synthetic tests; context-estimated periods; residual on/off with variance head + NLL; no-decomposition control.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3F295-0E9F-4839-8EEC-1A54AAFA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635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425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Baseline checkpoint (planned)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768CA-3A44-4DFD-9CFD-511205B9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302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Electricity, T=512, H=96; 3 seeds. Setup/data docs;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auditable splits; Seasonal Naive + smoke test;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log metrics/runtime + claim→test map. Validation only.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BF7C7-1B2E-49A8-8E5F-104D9B7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06823-EE6B-4060-8B3A-ED8BD33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582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380932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2026-10-05T18:38:34.6560000Z</dcterms:created>
  <dcterms:modified xsi:type="dcterms:W3CDTF">2026-10-05T18:38:34.6560000Z</dcterms:modified>
</coreProperties>
</file>