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b749dce5ca4ce8" /><Relationship Type="http://schemas.openxmlformats.org/officeDocument/2006/relationships/extended-properties" Target="/docProps/app.xml" Id="Rb68037b8f3654c23" /><Relationship Type="http://schemas.openxmlformats.org/officeDocument/2006/relationships/officeDocument" Target="/ppt/presentation.xml" Id="Rbfc9f69025bb48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44e5ddcf884769"/>
  </p:sldMasterIdLst>
  <p:notesMasterIdLst>
    <p:notesMasterId xmlns:r="http://schemas.openxmlformats.org/officeDocument/2006/relationships" r:id="R90dcfb4ab387448c"/>
  </p:notesMasterIdLst>
  <p:sldIdLst>
    <p:sldId xmlns:r="http://schemas.openxmlformats.org/officeDocument/2006/relationships" id="256" r:id="Rd609cc539dff4642"/>
  </p:sldIdLst>
  <p:sldSz cx="15120000" cy="106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cf3d7672f14b66" /><Relationship Type="http://schemas.openxmlformats.org/officeDocument/2006/relationships/slideMaster" Target="/ppt/slideMasters/slideMaster1.xml" Id="R2a44e5ddcf884769" /><Relationship Type="http://schemas.openxmlformats.org/officeDocument/2006/relationships/notesMaster" Target="/ppt/notesMasters/notesMaster1.xml" Id="R90dcfb4ab387448c" /><Relationship Type="http://schemas.openxmlformats.org/officeDocument/2006/relationships/presProps" Target="/ppt/presProps.xml" Id="R74d929c353e64835" /><Relationship Type="http://schemas.openxmlformats.org/officeDocument/2006/relationships/tableStyles" Target="/ppt/tableStyles.xml" Id="R68be2c662bc24875" /><Relationship Type="http://schemas.openxmlformats.org/officeDocument/2006/relationships/slide" Target="/ppt/slides/slide1.xml" Id="Rd609cc539dff46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60cf41c3b543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41a95c18a14876" /><Relationship Type="http://schemas.openxmlformats.org/officeDocument/2006/relationships/notesMaster" Target="/ppt/notesMasters/notesMaster1.xml" Id="R8fd03d75949341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Заметки к постеру DecoVAE-FM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Постер: один слайд A3, альбомная ориентация, английский текст. Эти заметки объясняют логику обзора и границы выводов. Подробный разбор проекта и статей находится в [poster.md](poster.md).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Главная мысль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**Выполняют ли специализированные компоненты модели свои роли — и улучшает ли это качество вероятностного прогноза, включая его калибровку?**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Есть два самостоятельных вопроса. Первый: если назвать ветку «трендом», будет ли её выход действительно трендом? Второй: даёт ли такая структура полезное распределение будущих значений? Хорошая декомпозиция не гарантирует хорошую калибровку, и хорошая калибровка не доказывает правильную декомпозицию. Мы проверяем оба вопроса и их взаимодействие.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Сценарий объяснения: 5–7 минут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1. Общая задача: примерно 45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Представьте нагрузку на электросеть. Есть медленные изменения среднего уровня, повторяющийся суточный цикл и остаточная вариативность. Нам нужен прогноз будущей нагрузки и разумные интервалы: например, насколько часто фактическое значение попадает в заявленный 90-процентный интервал.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DecoVAE-FM предлагает заранее выделить компоненты, которые должны отвечать за разную структуру сигнала. Однако архитектурные названия ещё не являются экспериментальным доказательством. Поэтому центральный вопрос связывает интерпретируемую структуру с проверкой неопределённости.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 Обзор и синтез: примерно 2 минуты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**DecoVAE [1]** — ближайшая архитектурная основа. У неё две VAE-ветки: тренд и сезонность; используются сглаживание тренда и комплексное представление сезонности через преобразование Фурье. В статье проверяют вероятностный прогноз через CRPS и NMAE. Это обосновывает полезность некоторых структурных ограничений в конкретном протоколе, но не гарантирует, что компоненты всегда восстанавливают истинный механизм генерации ряда.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**K²VAE [2]** — содержательный конкурент среди обучаемых вероятностных моделей. Вместо разделения на тренд и сезонность она вводит динамику в пространстве признаков: локальные и глобальные операторы Купмана и коррекцию, связанную с фильтром Калмана. Важно сравнить не только итоговый скор, но и пользу разных предположений о динамике.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**Chronos-2 [3], Moirai 2.0 [4], FlowState [5]** — другая стратегия решения той же задачи. Их знания переносятся из предварительного обучения; результат представляется квантилями. Chronos-2 использует внимание по времени и группам, поддерживает многомерный контекст и ковариаты. Moirai 2.0 использует независимую обработку каналов, предсказание нескольких будущих токенов и авторегрессию. FlowState сочетает state-space encoder с функциональным декодером; её отдельный интерес — перенос между частотами дискретизации.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Эти работы нужны для трёх сравнений: явная декомпозиция против других структурных предположений; локальное обучение против предварительного обучения и zero-shot переноса; выборка латентных переменных против квантильного описания распределения. Не следует делать вывод, что одна семья в целом лучше другой, сравнивая несопоставимые таблицы статей.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**Adler и соавторы [6]** дают дополнительный критерий оценки — калибровку и ширину интервалов. В их исследовании участвует Chronos-Bolt, а не Chronos-2. Нельзя автоматически переносить их результаты на Chronos-2.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**ProbTS [7]** важна как работа о протоколе сравнения: она уже сопоставляет разные семейства моделей. Мы не утверждаем, что до нашего проекта никто не сравнивал VAE и foundation models. Наш более узкий пробел — отсутствие контролируемого ответа о роли остаточной ветки и её взаимодействии с качеством декомпозиции в нашей реализации.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 Claims versus evidence: примерно 1 минута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Первое ограничение: улучшение прогнозного скора не доказывает корректность компонент. Нужна синтетика с известными трендом, сезонностью и условной дисперсией.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Второе: CRPS оценивает качество всего прогнозного распределения, объединяя свойства, связанные с точностью, концентрацией и калибровкой. Его нельзя интерпретировать как чистую меру калибровки. Поэтому рядом показываем coverage, ширину интервалов и PCE — probabilistic calibration error. Нужна оценка по горизонту, поскольку агрегированный скор может скрывать ухудшение на далёких шагах.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Третье: протокол — часть результата. Следует фиксировать контекст, горизонт, origins, split, масштаб метрик, агрегацию и доступ к данным предварительного обучения. «Zero-shot» означает отсутствие адаптации на целевом обучающем наборе при оценке; это не обязательно означает, что модель никогда не видела данные из этой области или части соответствующего датасета.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 Наша реализация и решающие эксперименты: примерно 1,5 минуты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коде текущего проекта сначала применяется нормализация по контексту с нелинейным преобразованием asinh. Затем обучаемая смесь moving-average фильтров выделяет тренд. Из остатка выбираются top-K частотные компоненты для сезонности. Оставшаяся часть называется residual.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Все три ветки имеют гауссовы латентные переменные. Декодированные тренд и сезонность складываются в среднее. Остаточная ветка входит в голову дисперсии вместе с трендовыми и сезонными латентами. Она **не** предсказывает отдельную аддитивную реализацию шума. Loss содержит NLL и KL; явного component alignment или штрафа на гладкость латентного тренда сейчас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локальном PDF архитектура описана как проект DecoVAE-FM. В коде сезонный encoder дополнен небольшим ComplexTransformer. Нельзя приравнивать проект к исходной статье DecoVAE, где две ветки и другой набор регуляризаторов. «FM» в нашем названии пока обозначает намерение предварительно обучать и переносить модель; доказанного foundation-переноса в репозитории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Предлагаем обучить четыре варианта: текущая декомпозиция с остаточной веткой и без неё; декомпозиция с **явным штрафом на гладкость тренда** с остаточной веткой и без неё. Это выбранная для постера гипотеза улучшения, пока не реализованный и не доказанный результат. Коэффициент регуляризации выбираем по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Сравнения A–B и C–D измеряют эффект остаточной ветки при каждой структуре. Сравнения A–C и B–D измеряют эффект изменения структуры. Разность этих эффектов позволяет увидеть взаимодействие. У всех вариантов остаются вероятностная голова, NLL, одинаковый режим семплирования и бюджет. «Residual off» требует отдельного обучения, а не простого выключения входа в уже обученной модели. При сильном причинном выводе о роли ветки потребуется контроль числа параметров.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Дополнительно нужен вариант без декомпозиции с вероятностной головой, чтобы проверить общий вклад структуры. Seasonal Naive даёт воспроизводимый первый ориентир; K²VAE — ближайший содержательный обучаемый конкурент. Сравнение с Chronos-2/Moirai 2.0 делаем на том же evaluation loop при доступном compute. FlowState полезна для отдельного стресс-теста частоты, если остаётся время.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 Предварительное наблюдение и выполнимость: примерно 45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сохранённых графиках notebook периодический сигнал в основном следует выходу трендовой ветки, а сезонный выход мал. Это видно в четырёх примерах одного синтетического запуска. Графики получены при декодировании в средних латентного posterior, не через полную Monte Carlo смесь.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мотивирует измерять роли компонент, но не доказывает collapse, не является результатом на реальных данных и не подтверждает калибровку. Checkpoint из задания пока планируем: в репозитории нет полного подтверждения всех перечисленных требований.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этой неделе: рабочая инструкция, подготовка данных, manifest split, первый baseline, smoke test, seeds, метрики и runtime; рядом claim-to-experiment map и честно ограниченный предварительный результат. Затем — четыре варианта на одном аудированном датасете с тремя seeds. Второй датасет и pretrained сравнения добавляем после устойчивого протокола. Уменьшаем широту утверждений, если бюджет ограничен.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Распределение устного объяснения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Назначьте каждому участнику содержательный раздел и вопросы по нему. Имена в постере не выдуманы; распределение надо согласовать внутри команды.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Участник / роль | Основной сегмент | Ответственность в вопросах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Постановка и DecoVAE | Общая задача; исходная статья и текущая модель | Компоненты, asinh, латенты и loss |</a:t>
            </a:r>
          </a:p>
          <a:p xmlns:a="http://schemas.openxmlformats.org/drawingml/2006/main">
            <a:r>
              <a:t>| Сравнение методов | K²VAE и pretrained модели | Методы, режимы обучения, смысл zero-shot |</a:t>
            </a:r>
          </a:p>
          <a:p xmlns:a="http://schemas.openxmlformats.org/drawingml/2006/main">
            <a:r>
              <a:t>| Критическая оценка | Claims versus evidence; протокол | CRPS, калибровка, leakage и агрегация |</a:t>
            </a:r>
          </a:p>
          <a:p xmlns:a="http://schemas.openxmlformats.org/drawingml/2006/main">
            <a:r>
              <a:t>| Эксперименты и выполнимость | Факторный дизайн, checkpoint, план | Абляции, baseline, compute и границы выводов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участников меньше четырёх, объедините соседние сегменты; если больше — разделите методы и протокол. Каждый должен уметь коротко сформулировать центральный вопрос и ограничения текущего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Вопросы, к которым стоит подготовиться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**Почему residual не обязательно чистый шум?** Он зависит от выбранных фильтров и спектрального приближения. В него могут попасть пропущенные гармоники, резкие изменения, плохо выделенный тренд и другие прогнозируемые структуры. Мы проверяем его вклад в дисперсию, а не называем его истинным случайным шумом.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**Как измерять роли при asinh-нормализации?** В исходной шкале сумма истинных компонент проходит через нелинейное преобразование и перестаёт быть простой суммой отдельных преобразований. Нельзя напрямую сравнить decoded trend в нормализованной шкале с исходным физическим трендом. Нужен согласованный synthetic protocol: либо генерация аддитивных компонент в модельной шкале с последующим обратным преобразованием, либо отдельный линейный normalization control. Это часть проверки постановки.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**Почему хорошие coverage недостаточно?** Очень широкие интервалы могут покрывать почти всё. Поэтому одновременно показываем ширину и распределительные scores. Важны разные уровни покрытия и разные горизонты, а не один средний процент.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**Что показывает отключение residual?** После переобучения и при сохранённой вероятностной голове оно показывает добавочную полезность выделенного остаточного представления в выбранном режиме. Если другие латенты компенсируют удаление ветки, это не доказывает отсутствие случайной вариативности в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**Почему штраф на гладкость может помочь и почему не гарантирует результат?** Он ограничивает быстрые изменения трендовой ветки и может облегчить разделение ролей. Но низкочастотная сезонность тоже гладкая; слишком сильный штраф ухудшит прогноз или перенесёт сигнал в другую ветку. Именно поэтому коэффициент выбирается на validation, а роль проверяется на синтетике.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**Почему нельзя сразу заявить, что сезонная ветка collapse?** Четыре сохранённых примера одного режима недостаточны. Нужны повторные seeds, спектральные и компонентные ошибки, чувствительность к KL и контролируемые изменения генератора.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**Какие риски обнаружены в подготовке данных?** Текущий converter делит целые ряды по hash вместо temporal split, интерполирует в обе стороны и склеивает M4 train/test перед разбиением. Это другие условия оценки и потенциальный доступ к будущему. Для данного эксперимента нужен отдельный причинный preprocessing и аудируемая временная граница. Это нельзя исправить только подписью к таблице.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**Что является минимальным убедительным результатом?** Документированный baseline, фиксированный протокол, четыре честно обученных варианта, три seeds и совместный анализ accuracy, распределительных scores, coverage/width и ролей на синтетике. Если успеваем только один датасет, вывод формулируем для него и выбранных условий.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Claim-to-experiment 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Гипотеза | Решающий эксперимент | Что можно заключить | Что нельзя заключить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Ветки восстанавливают назначенные роли | Синтетика с известной структурой; ошибки компонент и спектральное смешение | Роли восстановлены в данном генераторе / диапазоне параметров | Компоненты всегда имеют физический смысл на реальных данных |</a:t>
            </a:r>
          </a:p>
          <a:p xmlns:a="http://schemas.openxmlformats.org/drawingml/2006/main">
            <a:r>
              <a:t>| Residual помогает неопределённости | A–B и C–D; CRPS + PCE + coverage/width по горизонту | Добавочная польза ветки в конкретном режиме | Вся неопределённость кодируется только в residual |</a:t>
            </a:r>
          </a:p>
          <a:p xmlns:a="http://schemas.openxmlformats.org/drawingml/2006/main">
            <a:r>
              <a:t>| Гладкость улучшает разделение | A–C и B–D; роли, accuracy и calibration вместе | Эффект конкретного штрафа и его взаимодействие с residual | Любая явная декомпозиция полезнее любой другой модели |</a:t>
            </a:r>
          </a:p>
          <a:p xmlns:a="http://schemas.openxmlformats.org/drawingml/2006/main">
            <a:r>
              <a:t>| Декомпозиция полезна в целом | Контроль без декомпозиции, сопоставимый бюджет и variance head | Польза выбранной структурной схемы | Автоматическое превосходство над pretrained моделями |</a:t>
            </a:r>
          </a:p>
          <a:p xmlns:a="http://schemas.openxmlformats.org/drawingml/2006/main">
            <a:r>
              <a:t>| Модель полезна относительно доступных альтернатив | Seasonal Naive, K²VAE и доступные pretrained baselines на общем loop | Сравнение при указанных условиях и compute | Универсальное SOTA или отсутствие pretraining exposure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Показатели и данные: операционное уточнение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Point forecast: MASE; при необходимости дополнительно NMAE для сопоставления со статьями.</a:t>
            </a:r>
          </a:p>
          <a:p xmlns:a="http://schemas.openxmlformats.org/drawingml/2006/main">
            <a:r>
              <a:t>- Полное распределение: CRPS с документированным estimator и одинаковым числом samples / сеткой квантилей, насколько применимо. WQL отдельно обозначается как квантильный скор, не объявляется тождественным точному CRPS.</a:t>
            </a:r>
          </a:p>
          <a:p xmlns:a="http://schemas.openxmlformats.org/drawingml/2006/main">
            <a:r>
              <a:t>- Калибровка: эмпирическое coverage для нескольких nominal levels, PCE по выбранному определению [6], ширина центральных интервалов. Отдельно по горизонту и датасету.</a:t>
            </a:r>
          </a:p>
          <a:p xmlns:a="http://schemas.openxmlformats.org/drawingml/2006/main">
            <a:r>
              <a:t>- Синтетика: ошибки trend/seasonality, частотная утечка, соответствие предсказанной условной дисперсии генератору. Никакого ожидания восстановить конкретную непредсказуемую реализацию шума.</a:t>
            </a:r>
          </a:p>
          <a:p xmlns:a="http://schemas.openxmlformats.org/drawingml/2006/main">
            <a:r>
              <a:t>- Реальные данные: сначала один датасет ETT с явными временными split и origins; второй — после успешного полного loop. Конкретные context/horizon фиксируются в manifest до просмотра test. Все статистики normalization считаются только по доступному контексту / train, в соответствии с выбранным протоколом.</a:t>
            </a:r>
          </a:p>
          <a:p xmlns:a="http://schemas.openxmlformats.org/drawingml/2006/main">
            <a:r>
              <a:t>- Seeds: минимум три для нашей модели; zero-shot inference тоже документируется. Записываются время, устройство, число параметров и режим семплирования. Неопределённость оценки агрегируется по рядам / временным блокам с учётом зависимых overlapping windows.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Источники и provenance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Первоисточники просмотрены для сопоставления методов и протоколов. Указанные количества относятся к статьям, не к нашему запуску.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[DecoVAE: a Lightweight Interpretable Trend-Seasonal VAE Framework for Efficient Probabilistic Time Series Forecasting](https://arxiv.org/html/2608.20052v2), Marusov, Anikin, Zaytsev, 2026. Структура, loss, supervised benchmarking и ablations. В главных таблицах T=96, H=24/720, три независимых переобучения.</a:t>
            </a:r>
          </a:p>
          <a:p xmlns:a="http://schemas.openxmlformats.org/drawingml/2006/main">
            <a:r>
              <a:t>2. [K²VAE](https://arxiv.org/html/2505.23017), Wu et al., ICML 2025. Koopman / Kalman modeling и ProbTS protocol. Краткие «8 short / 9 long» обозначают наборы задач из статьи. Обычно short T=H=24 (Exchange: 30), long T=96 и H=96/192/336/720 (ILI: T=36, H=24/36/48/60); пять независимых запусков. «Typical» в таблице постера указывает на эти исключения.</a:t>
            </a:r>
          </a:p>
          <a:p xmlns:a="http://schemas.openxmlformats.org/drawingml/2006/main">
            <a:r>
              <a:t>3. [Chronos-2](https://arxiv.org/html/2510.15821v1), Ansari et al., 2025. Encoder, group attention, quantiles и benchmark protocol.</a:t>
            </a:r>
          </a:p>
          <a:p xmlns:a="http://schemas.openxmlformats.org/drawingml/2006/main">
            <a:r>
              <a:t>4. [Moirai 2.0](https://arxiv.org/html/2511.11698), Liu et al., 2025. Decoder-only, multi-token prediction, quantile fine-tuning и GIFT.</a:t>
            </a:r>
          </a:p>
          <a:p xmlns:a="http://schemas.openxmlformats.org/drawingml/2006/main">
            <a:r>
              <a:t>5. [FlowState: Sampling-Rate-Equivariant Time-Series Forecasting](https://arxiv.org/html/2508.05287), Graf et al., ICML 2026. S5 / functional decoder, scaling и sampling-rate tests. Формулировка названия зависит от версии препринта.</a:t>
            </a:r>
          </a:p>
          <a:p xmlns:a="http://schemas.openxmlformats.org/drawingml/2006/main">
            <a:r>
              <a:t>6. [Adler et al.: Beyond Accuracy: Are Time Series Foundation Models Well-Calibrated?](https://arxiv.org/html/2510.16060), ICLR 2026. PCE, CCE, interval width и исследованные версии моделей. Используется Chronos-Bolt; Chronos-2 не переносим в их выводы.</a:t>
            </a:r>
          </a:p>
          <a:p xmlns:a="http://schemas.openxmlformats.org/drawingml/2006/main">
            <a:r>
              <a:t>7. [ProbTS](https://arxiv.org/html/2310.07446), NeurIPS 2024 Datasets and Benchmarks. Систематическое сравнение point / probabilistic forecast на short / long horizons.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Локальные материалы: `materials/DecoVAE_FM__Copy_.pdf`; `models/decovae_fm.py`; `lightning_module.py`; `evaluation.py`; `data/unified_converter.py`; `notebooks/debug_training.ipynb`. Проверка кода и сохранённых outputs выполнена 5 октября 2026 года. Notebook — сохранённый запуск, не вновь воспроизведённый эксперимент. В его диагностике reparameterize временно заменяется на mu; график sigma при этом не представляет всю predictive mixture.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Как читать короткие протоколы на постере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Таблица восстанавливает режим обучения, основные benchmark suites, горизонты и семейства метрик; она не утверждает, что все статьи используют общий split. Для непосредственного воспроизведения ещё нужны точные manifests, task-specific окна, origins, версия checkpoint и формула агрегации. Различие между опубликованным протоколом и нашим общим loop сознательно вынесено в среднюю колонку.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Статус результата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Постер — литературный синтез и конкретный исследовательский план. Описанные абляции и улучшение гладкости пока не выполнены. Checkpoint перечислен как planned. Данный запрос создаёт презентационные материалы; он не означает, что baseline и изменения pipeline уже реализованы.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cc41a70084e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4c43882c3b41f9" /><Relationship Type="http://schemas.openxmlformats.org/officeDocument/2006/relationships/slideLayout" Target="/ppt/slideLayouts/slideLayout1.xml" Id="R485bdb01749843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5bdb01749843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e1169865949a0" /><Relationship Type="http://schemas.openxmlformats.org/officeDocument/2006/relationships/notesSlide" Target="/ppt/notesSlides/notesSlide1.xml" Id="Rde2f00bca2714f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8FC483-20B9-4CE0-9121-0C0D5D26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5275"/>
            <a:ext cx="143541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33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specialized components learn their intended roles—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33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and does this improve forecast uncertainty?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07F19-5836-45F7-BFE9-8E77C013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DecoVAE-FM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3C457-4D1F-443F-AE6A-B26223E2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457325"/>
            <a:ext cx="1162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Shared problem: forecast a distribution of future values; test structural meaning, accuracy and calibration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9B091-FA6F-42EA-94C5-B50415F1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24050"/>
            <a:ext cx="143541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7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25102-5595-4254-8CB3-20F8A0DF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145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01  Which assumptions are useful?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36128-69A2-446B-BA58-C8D4E5A3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05075"/>
            <a:ext cx="546735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656FF-B8C8-44F8-8C32-98BF8186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38425"/>
            <a:ext cx="546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Two families address the same task: structured generative models and pretrained forecasting models.</a:t>
            </a:r>
          </a:p>
        </p:txBody>
      </p:sp>
      <p:graphicFrame>
        <p:nvGraphicFramePr>
          <p:cNvPr id="45" name=""/>
          <p:cNvGraphicFramePr/>
          <p:nvPr/>
        </p:nvGraphicFramePr>
        <p:xfrm>
          <a:off xmlns:a="http://schemas.openxmlformats.org/drawingml/2006/main" x="381000" y="3209925"/>
          <a:ext xmlns:a="http://schemas.openxmlformats.org/drawingml/2006/main" cx="5467350" cy="4876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57275"/>
                <a:gridCol w="2190750"/>
                <a:gridCol w="2219325"/>
              </a:tblGrid>
              <a:tr h="400050">
                <a:tc>
                  <a:txBody>
                    <a:bodyPr/>
                    <a:lstStyle/>
                    <a:p>
                      <a:r>
                        <a:rPr sz="123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</a:t>
                      </a:r>
                    </a:p>
                  </a:txBody>
                  <a:tcPr marL="85725" marR="85725" marT="76200" marB="66675" anchor="t">
                    <a:solidFill>
                      <a:srgbClr val="006E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Assumption and output</a:t>
                      </a:r>
                    </a:p>
                  </a:txBody>
                  <a:tcPr marL="85725" marR="85725" marT="76200" marB="66675" anchor="t">
                    <a:solidFill>
                      <a:srgbClr val="006E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Reconstructed evaluation</a:t>
                      </a:r>
                    </a:p>
                  </a:txBody>
                  <a:tcPr marL="85725" marR="85725" marT="76200" marB="66675" anchor="t">
                    <a:solidFill>
                      <a:srgbClr val="006E73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DecoVAE</a:t>
                      </a:r>
                    </a:p>
                    <a:p>
                      <a:r>
                        <a:rPr sz="1275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[1]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Trend + Fourier seasonality; separate VAEs and trend smoothness. Latent forecast samples.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Supervised: 7 datasets; T=96, H=24/720; CRPS / NMAE; 3 retrains.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K²VAE</a:t>
                      </a:r>
                    </a:p>
                    <a:p>
                      <a:r>
                        <a:rPr sz="1275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[2]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+ global Koopman dynamics; Kalman correction; Gaussian VAE observation model.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ProbTS: 8 short / 9 long; typical T=H=24 or T=96, H≤720. CRPS / NMAE; 5 seeds.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Chronos-2</a:t>
                      </a:r>
                    </a:p>
                    <a:p>
                      <a:r>
                        <a:rPr sz="1275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[3]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Patches + time / group attention; multivariate and covariate context; quantile forecasts.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Pretrained, zero-shot. fev-bench / GIFT / Chronos-II; rolling origins; WQL / MASE.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Moirai 2.0</a:t>
                      </a:r>
                    </a:p>
                    <a:p>
                      <a:r>
                        <a:rPr sz="1275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[4]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Channel-independent decoder; multiple future tokens; autoregressive quantile forecasts.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Pretrained, zero-shot. GIFT: 97 tasks, 55 datasets; 9 quantiles; normalized aggregate scores.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FlowState</a:t>
                      </a:r>
                    </a:p>
                    <a:p>
                      <a:r>
                        <a:rPr sz="1275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[5]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S5 state-space encoder; functional Legendre decoder; sampling-rate equivariance; quantiles.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0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Pretrained, zero-shot. GIFT: 97 tasks; MASE / quantile CRPS; sampling-rate stress tests.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5ACD7-3C71-483B-90F7-0A186478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10550"/>
            <a:ext cx="546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Why these works? Compare explicit structure, dynamics priors and pretraining, and their alternative uncertainty representations.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99D1E-AAF8-46F7-B1F4-16E2B398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02  Evidence and its limits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29630-59E2-4381-ACF8-7E044E2B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05075"/>
            <a:ext cx="40386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FAE8B-6C7C-4DF7-B37D-AAEEBB0A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47950"/>
            <a:ext cx="403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Structure ≠ recovered roles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E1645-50F9-40FA-991C-8B15B917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33700"/>
            <a:ext cx="4038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 better forecast does not show that decoded trend and seasonality match their intended components. Test roles where the generating process is known.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20889-333B-40C4-8685-4F08D87A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90975"/>
            <a:ext cx="403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CRPS ≠ calibration alone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F930C-2930-4DC5-81AD-1828A3D9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76725"/>
            <a:ext cx="40386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DecoVAE claims calibration but reports CRPS / NMAE. Add coverage, interval width and PCE (calibration error) by horizon. Adler [6] supplies this lens; it evaluates Chronos-Bolt.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60F2C-BB27-4968-AC38-1DEFC7F4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48300"/>
            <a:ext cx="403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 leaderboard ≠ a controlled contrast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4EB60-C965-42D8-807B-2607DCCD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34050"/>
            <a:ext cx="4038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Different pretraining corpora, contexts, horizons, splits, scales and aggregation can change rankings. ProbTS [7] provides a useful cross-model protocol.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AC579-E98A-476E-B7F9-CD666363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772275"/>
            <a:ext cx="4038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 shared evaluation contract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2D508-FE74-42D8-B4D9-5D370B9E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7096125"/>
            <a:ext cx="40386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Same datasets, context / horizon, rolling origins and normalization. Record pretraining exposure and compute. Report per-dataset scores before pooled ranks. Select variants on validation only.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47B72-3831-4572-ADA2-218C11F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14550"/>
            <a:ext cx="4276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03  Our question → decisive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FD0A9-7531-4B5E-9A36-C876C62B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05075"/>
            <a:ext cx="427672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A2D82-BC15-4E68-8ECD-AD6DD48F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47950"/>
            <a:ext cx="427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Current implementation: DecoVAE-FM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D18BF1-500B-4C12-B871-C12D8C59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971800"/>
            <a:ext cx="42767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Moving-average trend, top-K Fourier seasonality, then a residual. Three Gaussian latent branches; trend + seasonality produce the mean.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C6627F-C152-4F6C-9662-5623EF85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962400"/>
            <a:ext cx="4276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88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Mean = decoded trend + decoded seasonality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388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Variance head = f(ztrend, zseason, zresidual)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54C7EC-6C03-441A-AE95-0795597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72000"/>
            <a:ext cx="42767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The residual branch feeds variance; it is not an additive noise path. NLL + KL do not enforce correct roles. “FM” is a transfer ambition, not an established result.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C52502-794C-4DF4-A6E7-59C8862F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448300"/>
            <a:ext cx="4276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Retrained 2 × 2 ablation</a:t>
            </a:r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10458450" y="5810250"/>
          <a:ext xmlns:a="http://schemas.openxmlformats.org/drawingml/2006/main" cx="4276725" cy="1162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71725"/>
                <a:gridCol w="952500"/>
                <a:gridCol w="952500"/>
              </a:tblGrid>
              <a:tr h="5334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Decomposition</a:t>
                      </a:r>
                    </a:p>
                  </a:txBody>
                  <a:tcPr marL="85725" marR="85725" marT="76200" marB="66675" anchor="t">
                    <a:solidFill>
                      <a:srgbClr val="006E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Residual on</a:t>
                      </a:r>
                    </a:p>
                  </a:txBody>
                  <a:tcPr marL="85725" marR="85725" marT="76200" marB="66675" anchor="t">
                    <a:solidFill>
                      <a:srgbClr val="006E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Residual off</a:t>
                      </a:r>
                    </a:p>
                  </a:txBody>
                  <a:tcPr marL="85725" marR="85725" marT="76200" marB="66675" anchor="t">
                    <a:solidFill>
                      <a:srgbClr val="006E73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trend smoothness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</a:t>
                      </a:r>
                    </a:p>
                  </a:txBody>
                  <a:tcPr marL="85725" marR="85725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36C826-3AA7-46C1-A9E8-45DDA647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105650"/>
            <a:ext cx="42767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 vs B / C vs D: residual contribution.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 vs C / B vs D: structure; compare interactions.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Keep NLL, variance head, sampling and budget.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DC3FD9-46C6-4987-9250-47B7AEF1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943850"/>
            <a:ext cx="4276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Add a no-decomposition probabilistic control. Synthetic data: role recovery and variance fit. Real data: accuracy, CRPS, coverage and width.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3DC7A-11C5-4DB8-8CF2-F4141F73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858250"/>
            <a:ext cx="14354175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7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3EBCF8-0EA8-4C52-BF1B-2E85350C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48750"/>
            <a:ext cx="700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04  Feasible checkpoint and plan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BD164E-97BE-4D98-9951-522690F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39275"/>
            <a:ext cx="700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Checkpoint (planned): documented setup + data preparation; audited temporal splits and causal preprocessing; Seasonal Naive; end-to-end smoke test; seeds, metrics and runtime logged; no test tuning.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503F6B-76F7-4319-BDE6-0C18F91D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9048750"/>
            <a:ext cx="700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 b="1">
                <a:solidFill>
                  <a:srgbClr val="936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936220"/>
                </a:solidFill>
                <a:latin typeface="Helvetica Neue"/>
                <a:ea typeface="Helvetica Neue"/>
                <a:cs typeface="Helvetica Neue"/>
              </a:rPr>
              <a:t>Limited local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F95FF1-3EDD-479A-8419-A8CB0008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9344025"/>
            <a:ext cx="700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Saved synthetic diagnostics: periodic signal mainly follows decoded trend; seasonal output is small in 4 examples (posterior-mean decode). This motivates role tests; it does not establish calibration.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E1A03B-30C2-43F0-AE9B-FDE32650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9972675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23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This week: baseline + experiment map. Weeks 2–3: 2 × 2, one dataset, 3 seeds. Week 4: second dataset / pretrained baselines as compute allows.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E9D47E-15B6-41A7-9033-087F2CDB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391775"/>
            <a:ext cx="700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96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Sources: [1] DecoVAE, arXiv:2608.20052  [2] K²VAE, 2505.23017  [3] Chronos-2, 2510.15821  [4] Moirai 2.0, 2511.11698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888262-CF5E-4BA6-9CDE-744A1DBC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0410825"/>
            <a:ext cx="700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96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[5] FlowState, 2508.05287  [6] Adler et al., 2510.16060  [7] ProbTS, 2310.07446</a:t>
            </a:r>
          </a:p>
        </p:txBody>
      </p:sp>
    </p:spTree>
    <p:extLst>
      <p:ext uri="{BB962C8B-B14F-4D97-AF65-F5344CB8AC3E}">
        <p14:creationId xmlns:p14="http://schemas.microsoft.com/office/powerpoint/2010/main" val="1331075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2026-10-05T17:44:02.5810000Z</dcterms:created>
  <dcterms:modified xsi:type="dcterms:W3CDTF">2026-10-05T17:44:02.5810000Z</dcterms:modified>
</coreProperties>
</file>